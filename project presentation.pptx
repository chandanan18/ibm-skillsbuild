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732"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33"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104859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59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48602"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3"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48606"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07"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048610"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1"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048622"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3"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048625"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6"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048628"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29"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048632"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33"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1048641"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42"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1048648"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49"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1048655"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56"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104866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6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048666"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67"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1048673"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74"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1048680"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81"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1048687"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88"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04858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58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59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9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9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1048581"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582"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48583"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84"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85"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1048702"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03"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04"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05"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6"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7"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1048708"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09"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48710"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11"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48712"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713"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14"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15"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104871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1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1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1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1048689"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0"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1"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1048720"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21"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48722"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48723"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24"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25"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1048726"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727" name="Google Shape;63;p30"/>
          <p:cNvSpPr>
            <a:spLocks noGrp="1"/>
          </p:cNvSpPr>
          <p:nvPr>
            <p:ph type="pic" idx="2"/>
          </p:nvPr>
        </p:nvSpPr>
        <p:spPr>
          <a:xfrm>
            <a:off x="5183188" y="987425"/>
            <a:ext cx="6172200" cy="4873625"/>
          </a:xfrm>
          <a:prstGeom prst="rect">
            <a:avLst/>
          </a:prstGeom>
          <a:noFill/>
          <a:ln>
            <a:noFill/>
          </a:ln>
        </p:spPr>
      </p:sp>
      <p:sp>
        <p:nvSpPr>
          <p:cNvPr id="1048728"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48729"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30"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31"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1048692"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3"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694"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5"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96"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1048697"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98"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endParaRPr/>
          </a:p>
        </p:txBody>
      </p:sp>
      <p:sp>
        <p:nvSpPr>
          <p:cNvPr id="1048699"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0"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701"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104857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57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857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57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858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chandusri016@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mailto:srichandana045@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title"/>
          </p:nvPr>
        </p:nvSpPr>
        <p:spPr/>
        <p:txBody>
          <a:bodyPr>
            <a:normAutofit fontScale="95000"/>
          </a:bodyPr>
          <a:lstStyle/>
          <a:p>
            <a:pPr algn="ctr"/>
            <a:r>
              <a:rPr lang="en-US" sz="6600" b="1"/>
              <a:t>IBM University Engagement Project Submission</a:t>
            </a:r>
            <a:br>
              <a:rPr lang="en-US" b="1"/>
            </a:br>
            <a:endParaRPr lang="en-IN"/>
          </a:p>
        </p:txBody>
      </p:sp>
      <p:sp>
        <p:nvSpPr>
          <p:cNvPr id="1048587"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1048593"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1048594"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4194304" name="Google Shape;96;p2"/>
          <p:cNvGraphicFramePr>
            <a:graphicFrameLocks/>
          </p:cNvGraphicFramePr>
          <p:nvPr>
            <p:extLst>
              <p:ext uri="{D42A27DB-BD31-4B8C-83A1-F6EECF244321}">
                <p14:modId xmlns:p14="http://schemas.microsoft.com/office/powerpoint/2010/main" val="2534982114"/>
              </p:ext>
            </p:extLst>
          </p:nvPr>
        </p:nvGraphicFramePr>
        <p:xfrm>
          <a:off x="705582" y="1203322"/>
          <a:ext cx="9733417" cy="3616404"/>
        </p:xfrm>
        <a:graphic>
          <a:graphicData uri="http://schemas.openxmlformats.org/drawingml/2006/table">
            <a:tbl>
              <a:tblPr>
                <a:noFill/>
                <a:tableStyleId>{0AAD8F4D-43EB-41E5-8A38-28AB6DFB1B60}</a:tableStyleId>
              </a:tblPr>
              <a:tblGrid>
                <a:gridCol w="2139247">
                  <a:extLst>
                    <a:ext uri="{9D8B030D-6E8A-4147-A177-3AD203B41FA5}">
                      <a16:colId xmlns:a16="http://schemas.microsoft.com/office/drawing/2014/main" val="20000"/>
                    </a:ext>
                  </a:extLst>
                </a:gridCol>
                <a:gridCol w="2531390">
                  <a:extLst>
                    <a:ext uri="{9D8B030D-6E8A-4147-A177-3AD203B41FA5}">
                      <a16:colId xmlns:a16="http://schemas.microsoft.com/office/drawing/2014/main" val="20001"/>
                    </a:ext>
                  </a:extLst>
                </a:gridCol>
                <a:gridCol w="2531390">
                  <a:extLst>
                    <a:ext uri="{9D8B030D-6E8A-4147-A177-3AD203B41FA5}">
                      <a16:colId xmlns:a16="http://schemas.microsoft.com/office/drawing/2014/main" val="20002"/>
                    </a:ext>
                  </a:extLst>
                </a:gridCol>
                <a:gridCol w="2531390">
                  <a:extLst>
                    <a:ext uri="{9D8B030D-6E8A-4147-A177-3AD203B41FA5}">
                      <a16:colId xmlns:a16="http://schemas.microsoft.com/office/drawing/2014/main" val="20003"/>
                    </a:ext>
                  </a:extLst>
                </a:gridCol>
              </a:tblGrid>
              <a:tr h="543508">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976314">
                <a:tc>
                  <a:txBody>
                    <a:bodyPr/>
                    <a:lstStyle/>
                    <a:p>
                      <a:pPr marL="0" marR="0" lvl="0" indent="0" algn="l" rtl="0">
                        <a:spcBef>
                          <a:spcPts val="0"/>
                        </a:spcBef>
                        <a:spcAft>
                          <a:spcPts val="0"/>
                        </a:spcAft>
                        <a:buNone/>
                      </a:pPr>
                      <a:r>
                        <a:rPr lang="en-US" sz="2000" dirty="0"/>
                        <a:t>Sri Chandana Nemalidinne</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t>Project done with—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hlinkClick r:id="rId3"/>
                        </a:rPr>
                        <a:t>chandusri016@gmail.com</a:t>
                      </a:r>
                      <a:endParaRPr lang="en-US" sz="20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20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t>Registered in </a:t>
                      </a:r>
                      <a:r>
                        <a:rPr lang="en-US" sz="2000" dirty="0" err="1"/>
                        <a:t>aicte</a:t>
                      </a:r>
                      <a:r>
                        <a:rPr lang="en-US" sz="2000" dirty="0"/>
                        <a:t> with--  </a:t>
                      </a:r>
                      <a:r>
                        <a:rPr lang="en-US" sz="2000" dirty="0">
                          <a:hlinkClick r:id="rId4"/>
                        </a:rPr>
                        <a:t>srichandana045@gmail.com</a:t>
                      </a:r>
                      <a:endParaRPr lang="en-US"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7013897880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1048595" name="TextBox 3"/>
          <p:cNvSpPr txBox="1"/>
          <p:nvPr/>
        </p:nvSpPr>
        <p:spPr>
          <a:xfrm>
            <a:off x="809425" y="66846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1048596" name="TextBox 6"/>
          <p:cNvSpPr txBox="1"/>
          <p:nvPr/>
        </p:nvSpPr>
        <p:spPr>
          <a:xfrm>
            <a:off x="857820" y="126907"/>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course content simplification agent</a:t>
            </a:r>
            <a:endParaRPr lang="en-IN" sz="2400" b="1" dirty="0">
              <a:highlight>
                <a:srgbClr val="FFFF00"/>
              </a:highlight>
            </a:endParaRPr>
          </a:p>
        </p:txBody>
      </p:sp>
      <p:sp>
        <p:nvSpPr>
          <p:cNvPr id="1048597"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3" name="Picture 2">
            <a:extLst>
              <a:ext uri="{FF2B5EF4-FFF2-40B4-BE49-F238E27FC236}">
                <a16:creationId xmlns:a16="http://schemas.microsoft.com/office/drawing/2014/main" id="{38671978-1F8E-4DBB-3228-1AC71907D261}"/>
              </a:ext>
            </a:extLst>
          </p:cNvPr>
          <p:cNvPicPr>
            <a:picLocks noChangeAspect="1"/>
          </p:cNvPicPr>
          <p:nvPr/>
        </p:nvPicPr>
        <p:blipFill>
          <a:blip r:embed="rId5"/>
          <a:stretch>
            <a:fillRect/>
          </a:stretch>
        </p:blipFill>
        <p:spPr>
          <a:xfrm>
            <a:off x="3435887" y="2323941"/>
            <a:ext cx="1231196" cy="17104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8601" name="TextBox 2"/>
          <p:cNvSpPr txBox="1"/>
          <p:nvPr/>
        </p:nvSpPr>
        <p:spPr>
          <a:xfrm>
            <a:off x="402771" y="170688"/>
            <a:ext cx="7214616" cy="461665"/>
          </a:xfrm>
          <a:prstGeom prst="rect">
            <a:avLst/>
          </a:prstGeom>
          <a:noFill/>
        </p:spPr>
        <p:txBody>
          <a:bodyPr wrap="square" rtlCol="0">
            <a:spAutoFit/>
          </a:bodyPr>
          <a:lstStyle/>
          <a:p>
            <a:r>
              <a:rPr lang="en-US" sz="2400" b="1" dirty="0"/>
              <a:t>Problem Statement -</a:t>
            </a:r>
            <a:endParaRPr lang="en-IN" sz="2400" b="1" dirty="0"/>
          </a:p>
        </p:txBody>
      </p:sp>
      <p:sp>
        <p:nvSpPr>
          <p:cNvPr id="3" name="TextBox 2">
            <a:extLst>
              <a:ext uri="{FF2B5EF4-FFF2-40B4-BE49-F238E27FC236}">
                <a16:creationId xmlns:a16="http://schemas.microsoft.com/office/drawing/2014/main" id="{E8714E95-E54B-14FB-CCD5-093C0719B23B}"/>
              </a:ext>
            </a:extLst>
          </p:cNvPr>
          <p:cNvSpPr txBox="1"/>
          <p:nvPr/>
        </p:nvSpPr>
        <p:spPr>
          <a:xfrm>
            <a:off x="228600" y="643239"/>
            <a:ext cx="11462657" cy="5940088"/>
          </a:xfrm>
          <a:prstGeom prst="rect">
            <a:avLst/>
          </a:prstGeom>
          <a:noFill/>
        </p:spPr>
        <p:txBody>
          <a:bodyPr wrap="square">
            <a:spAutoFit/>
          </a:bodyPr>
          <a:lstStyle/>
          <a:p>
            <a:pPr>
              <a:buNone/>
            </a:pPr>
            <a:r>
              <a:rPr lang="en-US" sz="2000" b="1" dirty="0"/>
              <a:t>Problem Statement : Course Content Simplification Agent</a:t>
            </a:r>
          </a:p>
          <a:p>
            <a:pPr>
              <a:buNone/>
            </a:pPr>
            <a:r>
              <a:rPr lang="en-US" sz="2000" b="1" dirty="0"/>
              <a:t>The Challenge</a:t>
            </a:r>
          </a:p>
          <a:p>
            <a:pPr>
              <a:buNone/>
            </a:pPr>
            <a:r>
              <a:rPr lang="en-US" sz="2000" dirty="0"/>
              <a:t>Educational materials often vary in complexity and are not always accessible to learners with different levels of prior knowledge. Students may struggle to grasp key concepts due to </a:t>
            </a:r>
            <a:r>
              <a:rPr lang="en-US" sz="2000" b="1" dirty="0"/>
              <a:t>jargon-heavy or overly advanced explanations</a:t>
            </a:r>
            <a:r>
              <a:rPr lang="en-US" sz="2000" dirty="0"/>
              <a:t> in faculty notes and textbooks. The challenge is to develop an </a:t>
            </a:r>
            <a:r>
              <a:rPr lang="en-US" sz="2000" b="1" dirty="0"/>
              <a:t>AI-powered agent</a:t>
            </a:r>
            <a:r>
              <a:rPr lang="en-US" sz="2000" dirty="0"/>
              <a:t> that can intelligently analyze academic content and reframe explanations based on the learner's current proficiency—ranging from </a:t>
            </a:r>
            <a:r>
              <a:rPr lang="en-US" sz="2000" b="1" dirty="0"/>
              <a:t>beginner to expert</a:t>
            </a:r>
            <a:r>
              <a:rPr lang="en-US" sz="2000" dirty="0"/>
              <a:t>. This would support more inclusive learning and personalized education delivery at scale.</a:t>
            </a:r>
          </a:p>
          <a:p>
            <a:pPr>
              <a:buNone/>
            </a:pPr>
            <a:r>
              <a:rPr lang="en-US" sz="2000" b="1" dirty="0"/>
              <a:t>The Objective</a:t>
            </a:r>
          </a:p>
          <a:p>
            <a:pPr>
              <a:buNone/>
            </a:pPr>
            <a:r>
              <a:rPr lang="en-US" sz="2000" dirty="0"/>
              <a:t>Build an </a:t>
            </a:r>
            <a:r>
              <a:rPr lang="en-US" sz="2000" b="1" dirty="0"/>
              <a:t>AI-powered Course Content Simplification Agent</a:t>
            </a:r>
            <a:r>
              <a:rPr lang="en-US" sz="2000" dirty="0"/>
              <a:t> that delivers </a:t>
            </a:r>
            <a:r>
              <a:rPr lang="en-US" sz="2000" b="1" dirty="0"/>
              <a:t>personalized explanations</a:t>
            </a:r>
            <a:r>
              <a:rPr lang="en-US" sz="2000" dirty="0"/>
              <a:t> for learners at different proficiency levels. The solution should:</a:t>
            </a:r>
          </a:p>
          <a:p>
            <a:pPr>
              <a:buNone/>
            </a:pPr>
            <a:r>
              <a:rPr lang="en-US" sz="2000" dirty="0"/>
              <a:t>• </a:t>
            </a:r>
            <a:r>
              <a:rPr lang="en-US" sz="2000" b="1" dirty="0"/>
              <a:t>Content Analysis</a:t>
            </a:r>
            <a:r>
              <a:rPr lang="en-US" sz="2000" dirty="0"/>
              <a:t> – Analyze academic content provided by the user.</a:t>
            </a:r>
            <a:br>
              <a:rPr lang="en-US" sz="2000" dirty="0"/>
            </a:br>
            <a:r>
              <a:rPr lang="en-US" sz="2000" dirty="0"/>
              <a:t>• </a:t>
            </a:r>
            <a:r>
              <a:rPr lang="en-US" sz="2000" b="1" dirty="0"/>
              <a:t>Level-Based Simplification</a:t>
            </a:r>
            <a:r>
              <a:rPr lang="en-US" sz="2000" dirty="0"/>
              <a:t> – Reframe explanations according to the learner's proficiency level.</a:t>
            </a:r>
            <a:br>
              <a:rPr lang="en-US" sz="2000" dirty="0"/>
            </a:br>
            <a:r>
              <a:rPr lang="en-US" sz="2000" dirty="0"/>
              <a:t>• </a:t>
            </a:r>
            <a:r>
              <a:rPr lang="en-US" sz="2000" b="1" dirty="0"/>
              <a:t>Beginner Level</a:t>
            </a:r>
            <a:r>
              <a:rPr lang="en-US" sz="2000" dirty="0"/>
              <a:t> – Explain concepts using simple language and basic examples.</a:t>
            </a:r>
            <a:br>
              <a:rPr lang="en-US" sz="2000" dirty="0"/>
            </a:br>
            <a:r>
              <a:rPr lang="en-US" sz="2000" dirty="0"/>
              <a:t>• </a:t>
            </a:r>
            <a:r>
              <a:rPr lang="en-US" sz="2000" b="1" dirty="0"/>
              <a:t>Intermediate Level</a:t>
            </a:r>
            <a:r>
              <a:rPr lang="en-US" sz="2000" dirty="0"/>
              <a:t> – Provide clear explanations with moderate technical detail.</a:t>
            </a:r>
            <a:br>
              <a:rPr lang="en-US" sz="2000" dirty="0"/>
            </a:br>
            <a:r>
              <a:rPr lang="en-US" sz="2000" dirty="0"/>
              <a:t>• </a:t>
            </a:r>
            <a:r>
              <a:rPr lang="en-US" sz="2000" b="1" dirty="0"/>
              <a:t>Advanced Level</a:t>
            </a:r>
            <a:r>
              <a:rPr lang="en-US" sz="2000" dirty="0"/>
              <a:t> – Provide deeper explanations with more technical details.</a:t>
            </a:r>
            <a:br>
              <a:rPr lang="en-US" sz="2000" dirty="0"/>
            </a:br>
            <a:r>
              <a:rPr lang="en-US" sz="2000" dirty="0"/>
              <a:t>• </a:t>
            </a:r>
            <a:r>
              <a:rPr lang="en-US" sz="2000" b="1" dirty="0"/>
              <a:t>Expert Level</a:t>
            </a:r>
            <a:r>
              <a:rPr lang="en-US" sz="2000" dirty="0"/>
              <a:t> – Provide precise explanations using advanced technical terminology.</a:t>
            </a:r>
            <a:br>
              <a:rPr lang="en-US" sz="2000" dirty="0"/>
            </a:br>
            <a:r>
              <a:rPr lang="en-US" sz="2000" dirty="0"/>
              <a:t>• </a:t>
            </a:r>
            <a:r>
              <a:rPr lang="en-US" sz="2000" b="1" dirty="0"/>
              <a:t>Key Points</a:t>
            </a:r>
            <a:r>
              <a:rPr lang="en-US" sz="2000" dirty="0"/>
              <a:t> – Extract and present the most important concepts.</a:t>
            </a:r>
            <a:br>
              <a:rPr lang="en-US" sz="2000" dirty="0"/>
            </a:br>
            <a:r>
              <a:rPr lang="en-US" sz="2000" dirty="0"/>
              <a:t>• </a:t>
            </a:r>
            <a:r>
              <a:rPr lang="en-US" sz="2000" b="1" dirty="0"/>
              <a:t>Important Terms</a:t>
            </a:r>
            <a:r>
              <a:rPr lang="en-US" sz="2000" dirty="0"/>
              <a:t> – Identify and explain difficult or technical terms.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8605" name="TextBox 2"/>
          <p:cNvSpPr txBox="1"/>
          <p:nvPr/>
        </p:nvSpPr>
        <p:spPr>
          <a:xfrm>
            <a:off x="369243" y="0"/>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5" name="TextBox 4">
            <a:extLst>
              <a:ext uri="{FF2B5EF4-FFF2-40B4-BE49-F238E27FC236}">
                <a16:creationId xmlns:a16="http://schemas.microsoft.com/office/drawing/2014/main" id="{60FE425B-53FA-29FA-67D9-D74A92C10243}"/>
              </a:ext>
            </a:extLst>
          </p:cNvPr>
          <p:cNvSpPr txBox="1"/>
          <p:nvPr/>
        </p:nvSpPr>
        <p:spPr>
          <a:xfrm>
            <a:off x="369243" y="461664"/>
            <a:ext cx="10893489" cy="6247864"/>
          </a:xfrm>
          <a:prstGeom prst="rect">
            <a:avLst/>
          </a:prstGeom>
          <a:noFill/>
        </p:spPr>
        <p:txBody>
          <a:bodyPr wrap="square">
            <a:spAutoFit/>
          </a:bodyPr>
          <a:lstStyle/>
          <a:p>
            <a:pPr>
              <a:buNone/>
            </a:pPr>
            <a:r>
              <a:rPr lang="en-US" sz="1600" b="1" dirty="0"/>
              <a:t>Proposed Solution: AI-Powered Course Content Simplification Agent</a:t>
            </a:r>
          </a:p>
          <a:p>
            <a:pPr>
              <a:buNone/>
            </a:pPr>
            <a:r>
              <a:rPr lang="en-US" sz="1600" dirty="0"/>
              <a:t>The proposed solution is an </a:t>
            </a:r>
            <a:r>
              <a:rPr lang="en-US" sz="1600" b="1" dirty="0"/>
              <a:t>AI-powered Course Content Simplification Agent</a:t>
            </a:r>
            <a:r>
              <a:rPr lang="en-US" sz="1600" dirty="0"/>
              <a:t> built using </a:t>
            </a:r>
            <a:r>
              <a:rPr lang="en-US" sz="1600" b="1" dirty="0"/>
              <a:t>IBM Bob and IBM Granite</a:t>
            </a:r>
            <a:r>
              <a:rPr lang="en-US" sz="1600" dirty="0"/>
              <a:t> to provide personalized explanations of academic content based on the learner's proficiency level.</a:t>
            </a:r>
          </a:p>
          <a:p>
            <a:pPr>
              <a:buNone/>
            </a:pPr>
            <a:r>
              <a:rPr lang="en-US" sz="1600" dirty="0"/>
              <a:t>At its core, the solution analyzes </a:t>
            </a:r>
            <a:r>
              <a:rPr lang="en-US" sz="1600" b="1" dirty="0"/>
              <a:t>faculty notes, textbook content, or other academic material</a:t>
            </a:r>
            <a:r>
              <a:rPr lang="en-US" sz="1600" dirty="0"/>
              <a:t> provided by the learner and intelligently reframes the content using simple or advanced explanations according to the selected learning level.</a:t>
            </a:r>
          </a:p>
          <a:p>
            <a:pPr>
              <a:buNone/>
            </a:pPr>
            <a:r>
              <a:rPr lang="en-US" sz="1600" dirty="0"/>
              <a:t>The system supports four learner levels:</a:t>
            </a:r>
          </a:p>
          <a:p>
            <a:pPr>
              <a:buNone/>
            </a:pPr>
            <a:r>
              <a:rPr lang="en-US" sz="1600" b="1" dirty="0"/>
              <a:t>Beginner Level</a:t>
            </a:r>
            <a:r>
              <a:rPr lang="en-US" sz="1600" dirty="0"/>
              <a:t> provides simple explanations using easy-to-understand language and basic examples.</a:t>
            </a:r>
            <a:br>
              <a:rPr lang="en-US" sz="1600" dirty="0"/>
            </a:br>
            <a:r>
              <a:rPr lang="en-US" sz="1600" b="1" dirty="0"/>
              <a:t>Intermediate Level</a:t>
            </a:r>
            <a:r>
              <a:rPr lang="en-US" sz="1600" dirty="0"/>
              <a:t> provides clear explanations with moderate technical detail.</a:t>
            </a:r>
            <a:br>
              <a:rPr lang="en-US" sz="1600" dirty="0"/>
            </a:br>
            <a:r>
              <a:rPr lang="en-US" sz="1600" b="1" dirty="0"/>
              <a:t>Advanced Level</a:t>
            </a:r>
            <a:r>
              <a:rPr lang="en-US" sz="1600" dirty="0"/>
              <a:t> provides deeper explanations with more technical concepts.</a:t>
            </a:r>
            <a:br>
              <a:rPr lang="en-US" sz="1600" dirty="0"/>
            </a:br>
            <a:r>
              <a:rPr lang="en-US" sz="1600" b="1" dirty="0"/>
              <a:t>Expert Level</a:t>
            </a:r>
            <a:r>
              <a:rPr lang="en-US" sz="1600" dirty="0"/>
              <a:t> provides precise and detailed explanations using advanced technical terminology.</a:t>
            </a:r>
          </a:p>
          <a:p>
            <a:pPr>
              <a:buNone/>
            </a:pPr>
            <a:r>
              <a:rPr lang="en-US" sz="1600" dirty="0"/>
              <a:t>The system consists of the following key functionalities:</a:t>
            </a:r>
          </a:p>
          <a:p>
            <a:pPr>
              <a:buNone/>
            </a:pPr>
            <a:r>
              <a:rPr lang="en-US" sz="1600" b="1" dirty="0"/>
              <a:t>Content Analysis</a:t>
            </a:r>
            <a:r>
              <a:rPr lang="en-US" sz="1600" dirty="0"/>
              <a:t> analyzes the academic content entered by the user and identifies the important concepts.</a:t>
            </a:r>
          </a:p>
          <a:p>
            <a:pPr>
              <a:buNone/>
            </a:pPr>
            <a:r>
              <a:rPr lang="en-US" sz="1600" b="1" dirty="0"/>
              <a:t>Level-Based Simplification</a:t>
            </a:r>
            <a:r>
              <a:rPr lang="en-US" sz="1600" dirty="0"/>
              <a:t> adapts the explanation according to the learner's selected proficiency level.</a:t>
            </a:r>
          </a:p>
          <a:p>
            <a:pPr>
              <a:buNone/>
            </a:pPr>
            <a:r>
              <a:rPr lang="en-US" sz="1600" b="1" dirty="0"/>
              <a:t>Key Points Extraction</a:t>
            </a:r>
            <a:r>
              <a:rPr lang="en-US" sz="1600" dirty="0"/>
              <a:t> identifies and presents the most important points from the provided academic content.</a:t>
            </a:r>
          </a:p>
          <a:p>
            <a:pPr>
              <a:buNone/>
            </a:pPr>
            <a:r>
              <a:rPr lang="en-US" sz="1600" b="1" dirty="0"/>
              <a:t>Important Terms</a:t>
            </a:r>
            <a:r>
              <a:rPr lang="en-US" sz="1600" dirty="0"/>
              <a:t> identifies difficult or technical terms and provides easy-to-understand explanations.</a:t>
            </a:r>
          </a:p>
          <a:p>
            <a:pPr>
              <a:buNone/>
            </a:pPr>
            <a:r>
              <a:rPr lang="en-US" sz="1600" b="1" dirty="0"/>
              <a:t>Example Generation</a:t>
            </a:r>
            <a:r>
              <a:rPr lang="en-US" sz="1600" dirty="0"/>
              <a:t> provides relevant examples to help learners understand complex concepts more easily.</a:t>
            </a:r>
          </a:p>
          <a:p>
            <a:pPr>
              <a:buNone/>
            </a:pPr>
            <a:r>
              <a:rPr lang="en-US" sz="1600" dirty="0"/>
              <a:t>The solution includes a </a:t>
            </a:r>
            <a:r>
              <a:rPr lang="en-US" sz="1600" b="1" dirty="0"/>
              <a:t>user-friendly web interface</a:t>
            </a:r>
            <a:r>
              <a:rPr lang="en-US" sz="1600" dirty="0"/>
              <a:t> where learners can enter the subject, select their proficiency level, paste academic content, and receive a personalized simplified explanation.</a:t>
            </a:r>
          </a:p>
          <a:p>
            <a:pPr>
              <a:buNone/>
            </a:pPr>
            <a:r>
              <a:rPr lang="en-US" sz="1600" b="1" dirty="0"/>
              <a:t>IBM Bob</a:t>
            </a:r>
            <a:r>
              <a:rPr lang="en-US" sz="1600" dirty="0"/>
              <a:t> is used during the development of the project to create, organize, and assist with the application code and project workflow. </a:t>
            </a:r>
            <a:r>
              <a:rPr lang="en-US" sz="1600" b="1" dirty="0"/>
              <a:t>IBM Granite</a:t>
            </a:r>
            <a:r>
              <a:rPr lang="en-US" sz="1600" dirty="0"/>
              <a:t> is used as the AI model for understanding academic content and generating level-appropriate explanations.</a:t>
            </a:r>
          </a:p>
          <a:p>
            <a:pPr>
              <a:buNone/>
            </a:pPr>
            <a:r>
              <a:rPr lang="en-US" sz="1600" dirty="0"/>
              <a:t>Overall, this solution provides an </a:t>
            </a:r>
            <a:r>
              <a:rPr lang="en-US" sz="1600" b="1" dirty="0"/>
              <a:t>intelligent and personalized learning assistant</a:t>
            </a:r>
            <a:r>
              <a:rPr lang="en-US" sz="1600" dirty="0"/>
              <a:t> that helps students understand complex academic materials more easily and supports inclusive education by adapting content from </a:t>
            </a:r>
            <a:r>
              <a:rPr lang="en-US" sz="1600" b="1" dirty="0"/>
              <a:t>beginner to expert level</a:t>
            </a:r>
            <a:r>
              <a:rPr lang="en-US" sz="16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1048608" name="TextBox 1"/>
          <p:cNvSpPr txBox="1"/>
          <p:nvPr/>
        </p:nvSpPr>
        <p:spPr>
          <a:xfrm>
            <a:off x="624840" y="234260"/>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F4148E67-D468-9F91-AD8D-5B1A404C97E5}"/>
              </a:ext>
            </a:extLst>
          </p:cNvPr>
          <p:cNvSpPr txBox="1"/>
          <p:nvPr/>
        </p:nvSpPr>
        <p:spPr>
          <a:xfrm>
            <a:off x="624841" y="838200"/>
            <a:ext cx="9879874" cy="6059069"/>
          </a:xfrm>
          <a:prstGeom prst="rect">
            <a:avLst/>
          </a:prstGeom>
          <a:noFill/>
        </p:spPr>
        <p:txBody>
          <a:bodyPr wrap="square">
            <a:spAutoFit/>
          </a:bodyPr>
          <a:lstStyle/>
          <a:p>
            <a:pPr>
              <a:buNone/>
            </a:pPr>
            <a:r>
              <a:rPr lang="en-US" sz="2000" b="1" dirty="0"/>
              <a:t>Technologies Used – Course Content Simplification Agent</a:t>
            </a:r>
          </a:p>
          <a:p>
            <a:pPr>
              <a:buNone/>
            </a:pPr>
            <a:r>
              <a:rPr lang="en-US" sz="2000" dirty="0"/>
              <a:t>You can use this directly in your project report/PPT:</a:t>
            </a:r>
          </a:p>
          <a:p>
            <a:pPr>
              <a:buNone/>
            </a:pPr>
            <a:r>
              <a:rPr lang="en-US" sz="2000" b="1" dirty="0"/>
              <a:t>Technologies Used</a:t>
            </a:r>
          </a:p>
          <a:p>
            <a:pPr marL="342900" lvl="0" indent="-342900">
              <a:buFont typeface="Arial" panose="020B0604020202020204" pitchFamily="34" charset="0"/>
              <a:buChar char="•"/>
            </a:pPr>
            <a:r>
              <a:rPr lang="en-US" sz="2000" b="1" dirty="0"/>
              <a:t>IBM Bob</a:t>
            </a:r>
            <a:r>
              <a:rPr lang="en-US" sz="2000" dirty="0"/>
              <a:t> – AI-powered development environment used to build and develop the project. </a:t>
            </a:r>
          </a:p>
          <a:p>
            <a:pPr marL="342900" lvl="0" indent="-342900">
              <a:buFont typeface="Arial" panose="020B0604020202020204" pitchFamily="34" charset="0"/>
              <a:buChar char="•"/>
            </a:pPr>
            <a:r>
              <a:rPr lang="en-US" sz="2000" b="1" dirty="0"/>
              <a:t>IBM watsonx.ai</a:t>
            </a:r>
            <a:r>
              <a:rPr lang="en-US" sz="2000" dirty="0"/>
              <a:t> – AI/LLM platform used for content understanding and simplification. </a:t>
            </a:r>
          </a:p>
          <a:p>
            <a:pPr marL="342900" lvl="0" indent="-342900">
              <a:buFont typeface="Arial" panose="020B0604020202020204" pitchFamily="34" charset="0"/>
              <a:buChar char="•"/>
            </a:pPr>
            <a:r>
              <a:rPr lang="en-US" sz="2000" b="1" dirty="0"/>
              <a:t>Granite LLM</a:t>
            </a:r>
            <a:r>
              <a:rPr lang="en-US" sz="2000" dirty="0"/>
              <a:t> – Language model used to summarize and simplify course content. </a:t>
            </a:r>
          </a:p>
          <a:p>
            <a:pPr marL="342900" lvl="0" indent="-342900">
              <a:buFont typeface="Arial" panose="020B0604020202020204" pitchFamily="34" charset="0"/>
              <a:buChar char="•"/>
            </a:pPr>
            <a:r>
              <a:rPr lang="en-US" sz="2000" b="1" dirty="0"/>
              <a:t>Prompt Engineering</a:t>
            </a:r>
            <a:r>
              <a:rPr lang="en-US" sz="2000" dirty="0"/>
              <a:t> – Designed prompts to convert complex educational content into simple, easy-to-understand language. </a:t>
            </a:r>
          </a:p>
          <a:p>
            <a:pPr marL="342900" lvl="0" indent="-342900">
              <a:buFont typeface="Arial" panose="020B0604020202020204" pitchFamily="34" charset="0"/>
              <a:buChar char="•"/>
            </a:pPr>
            <a:r>
              <a:rPr lang="en-US" sz="2000" b="1" dirty="0"/>
              <a:t>Python</a:t>
            </a:r>
            <a:r>
              <a:rPr lang="en-US" sz="2000" dirty="0"/>
              <a:t> – Used for application logic, content processing, and AI integration. </a:t>
            </a:r>
          </a:p>
          <a:p>
            <a:pPr marL="342900" lvl="0" indent="-342900">
              <a:buFont typeface="Arial" panose="020B0604020202020204" pitchFamily="34" charset="0"/>
              <a:buChar char="•"/>
            </a:pPr>
            <a:r>
              <a:rPr lang="en-US" sz="2000" b="1" dirty="0"/>
              <a:t>Document Processing</a:t>
            </a:r>
            <a:r>
              <a:rPr lang="en-US" sz="2000" dirty="0"/>
              <a:t> – Used to extract and process content from course materials such as PDF, DOCX, and TXT files. </a:t>
            </a:r>
          </a:p>
          <a:p>
            <a:pPr marL="342900" lvl="0" indent="-342900">
              <a:buFont typeface="Arial" panose="020B0604020202020204" pitchFamily="34" charset="0"/>
              <a:buChar char="•"/>
            </a:pPr>
            <a:r>
              <a:rPr lang="en-US" sz="2000" b="1" dirty="0"/>
              <a:t>Web UI</a:t>
            </a:r>
            <a:r>
              <a:rPr lang="en-US" sz="2000" dirty="0"/>
              <a:t> – Interface for students to upload course content and view the simplified output. </a:t>
            </a:r>
          </a:p>
          <a:p>
            <a:pPr marL="342900" lvl="0" indent="-342900">
              <a:buFont typeface="Arial" panose="020B0604020202020204" pitchFamily="34" charset="0"/>
              <a:buChar char="•"/>
            </a:pPr>
            <a:r>
              <a:rPr lang="en-US" sz="2000" b="1" dirty="0"/>
              <a:t>IBM Cloud</a:t>
            </a:r>
            <a:r>
              <a:rPr lang="en-US" sz="2000" dirty="0"/>
              <a:t> – Cloud environment for hosting and integrating IBM AI services. </a:t>
            </a:r>
          </a:p>
          <a:p>
            <a:pPr marL="342900" lvl="0" indent="-342900">
              <a:buFont typeface="Arial" panose="020B0604020202020204" pitchFamily="34" charset="0"/>
              <a:buChar char="•"/>
            </a:pPr>
            <a:r>
              <a:rPr lang="en-US" sz="2000" b="1" dirty="0"/>
              <a:t>API Integration</a:t>
            </a:r>
            <a:r>
              <a:rPr lang="en-US" sz="2000" dirty="0"/>
              <a:t> – Used to connect the application with AI/LLM services. </a:t>
            </a:r>
          </a:p>
          <a:p>
            <a:pPr marL="342900" lvl="0" indent="-342900">
              <a:buFont typeface="Arial" panose="020B0604020202020204" pitchFamily="34" charset="0"/>
              <a:buChar char="•"/>
            </a:pPr>
            <a:r>
              <a:rPr lang="en-US" sz="2000" b="1" dirty="0"/>
              <a:t>Database/Storage</a:t>
            </a:r>
            <a:r>
              <a:rPr lang="en-US" sz="2000" dirty="0"/>
              <a:t> – Used for storing processed content, user information, or generated results where required.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04861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048613"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48614"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48615"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48616"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48617"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48618"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048619" name="TextBox 1"/>
          <p:cNvSpPr txBox="1"/>
          <p:nvPr/>
        </p:nvSpPr>
        <p:spPr>
          <a:xfrm>
            <a:off x="474822" y="863187"/>
            <a:ext cx="8823960" cy="4892040"/>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a:extLst>
              <a:ext uri="{FF2B5EF4-FFF2-40B4-BE49-F238E27FC236}">
                <a16:creationId xmlns:a16="http://schemas.microsoft.com/office/drawing/2014/main" id="{FCDBB25A-A92F-A4D2-5877-77B5858067A4}"/>
              </a:ext>
            </a:extLst>
          </p:cNvPr>
          <p:cNvPicPr>
            <a:picLocks noChangeAspect="1"/>
          </p:cNvPicPr>
          <p:nvPr/>
        </p:nvPicPr>
        <p:blipFill>
          <a:blip r:embed="rId3"/>
          <a:stretch>
            <a:fillRect/>
          </a:stretch>
        </p:blipFill>
        <p:spPr>
          <a:xfrm>
            <a:off x="3552693" y="1801099"/>
            <a:ext cx="7398335" cy="40455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048624"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3" name="Picture 2">
            <a:extLst>
              <a:ext uri="{FF2B5EF4-FFF2-40B4-BE49-F238E27FC236}">
                <a16:creationId xmlns:a16="http://schemas.microsoft.com/office/drawing/2014/main" id="{F1DFCACC-77DE-25F2-6D9D-D2AED1884441}"/>
              </a:ext>
            </a:extLst>
          </p:cNvPr>
          <p:cNvPicPr>
            <a:picLocks noChangeAspect="1"/>
          </p:cNvPicPr>
          <p:nvPr/>
        </p:nvPicPr>
        <p:blipFill>
          <a:blip r:embed="rId3"/>
          <a:stretch>
            <a:fillRect/>
          </a:stretch>
        </p:blipFill>
        <p:spPr>
          <a:xfrm>
            <a:off x="457199" y="936171"/>
            <a:ext cx="11223171" cy="55985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A581EA-213A-2163-E56A-C293C2F59D88}"/>
              </a:ext>
            </a:extLst>
          </p:cNvPr>
          <p:cNvPicPr>
            <a:picLocks noChangeAspect="1"/>
          </p:cNvPicPr>
          <p:nvPr/>
        </p:nvPicPr>
        <p:blipFill>
          <a:blip r:embed="rId2"/>
          <a:stretch>
            <a:fillRect/>
          </a:stretch>
        </p:blipFill>
        <p:spPr>
          <a:xfrm>
            <a:off x="283029" y="315686"/>
            <a:ext cx="11702142" cy="62449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048627" name="Google Shape;135;p5"/>
          <p:cNvSpPr/>
          <p:nvPr/>
        </p:nvSpPr>
        <p:spPr>
          <a:xfrm>
            <a:off x="374304" y="181724"/>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3" name="Picture 2">
            <a:extLst>
              <a:ext uri="{FF2B5EF4-FFF2-40B4-BE49-F238E27FC236}">
                <a16:creationId xmlns:a16="http://schemas.microsoft.com/office/drawing/2014/main" id="{F9A265F1-7B86-59F9-3E4E-E6C98F392292}"/>
              </a:ext>
            </a:extLst>
          </p:cNvPr>
          <p:cNvPicPr>
            <a:picLocks noChangeAspect="1"/>
          </p:cNvPicPr>
          <p:nvPr/>
        </p:nvPicPr>
        <p:blipFill>
          <a:blip r:embed="rId3"/>
          <a:stretch>
            <a:fillRect/>
          </a:stretch>
        </p:blipFill>
        <p:spPr>
          <a:xfrm>
            <a:off x="195942" y="771747"/>
            <a:ext cx="11800115" cy="59045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2097157" name="Google Shape;196;p9"/>
          <p:cNvPicPr preferRelativeResize="0">
            <a:picLocks/>
          </p:cNvPicPr>
          <p:nvPr/>
        </p:nvPicPr>
        <p:blipFill rotWithShape="1">
          <a:blip r:embed="rId3">
            <a:alphaModFix/>
          </a:blip>
          <a:srcRect/>
          <a:stretch>
            <a:fillRect/>
          </a:stretch>
        </p:blipFill>
        <p:spPr>
          <a:xfrm>
            <a:off x="8371985" y="1167493"/>
            <a:ext cx="3015343" cy="4523014"/>
          </a:xfrm>
          <a:prstGeom prst="rect">
            <a:avLst/>
          </a:prstGeom>
          <a:noFill/>
          <a:ln>
            <a:noFill/>
          </a:ln>
        </p:spPr>
      </p:pic>
      <p:sp>
        <p:nvSpPr>
          <p:cNvPr id="1048630"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FF41F298-B8E8-8951-FACE-00246E631B36}"/>
              </a:ext>
            </a:extLst>
          </p:cNvPr>
          <p:cNvSpPr txBox="1"/>
          <p:nvPr/>
        </p:nvSpPr>
        <p:spPr>
          <a:xfrm>
            <a:off x="914400" y="1005474"/>
            <a:ext cx="6096000" cy="5478423"/>
          </a:xfrm>
          <a:prstGeom prst="rect">
            <a:avLst/>
          </a:prstGeom>
          <a:noFill/>
        </p:spPr>
        <p:txBody>
          <a:bodyPr wrap="square">
            <a:spAutoFit/>
          </a:bodyPr>
          <a:lstStyle/>
          <a:p>
            <a:pPr>
              <a:buNone/>
            </a:pPr>
            <a:r>
              <a:rPr lang="en-US" b="1"/>
              <a:t>Role of Agentic AI in Course Content Simplification Agent</a:t>
            </a:r>
          </a:p>
          <a:p>
            <a:pPr>
              <a:buNone/>
            </a:pPr>
            <a:r>
              <a:rPr lang="en-US" b="1" dirty="0"/>
              <a:t>Agentic AI</a:t>
            </a:r>
          </a:p>
          <a:p>
            <a:pPr>
              <a:buNone/>
            </a:pPr>
            <a:r>
              <a:rPr lang="en-US" dirty="0"/>
              <a:t>Agentic AI enables the </a:t>
            </a:r>
            <a:r>
              <a:rPr lang="en-US" b="1" dirty="0"/>
              <a:t>Course Content Simplification Agent</a:t>
            </a:r>
            <a:r>
              <a:rPr lang="en-US" dirty="0"/>
              <a:t> to function as an intelligent and autonomous learning assistant rather than a simple chatbot. Using </a:t>
            </a:r>
            <a:r>
              <a:rPr lang="en-US" b="1" dirty="0"/>
              <a:t>IBM watsonx.ai</a:t>
            </a:r>
            <a:r>
              <a:rPr lang="en-US" dirty="0"/>
              <a:t> and </a:t>
            </a:r>
            <a:r>
              <a:rPr lang="en-US" b="1" dirty="0"/>
              <a:t>IBM Granite models</a:t>
            </a:r>
            <a:r>
              <a:rPr lang="en-US" dirty="0"/>
              <a:t>, it can coordinate multiple specialized agents to simplify and organize educational content effectively.</a:t>
            </a:r>
          </a:p>
          <a:p>
            <a:pPr>
              <a:buNone/>
            </a:pPr>
            <a:r>
              <a:rPr lang="en-US" dirty="0"/>
              <a:t>Each agent performs a specific role—such as </a:t>
            </a:r>
            <a:r>
              <a:rPr lang="en-US" b="1" dirty="0"/>
              <a:t>analyzing course material, identifying important concepts, simplifying complex topics, generating summaries, and creating study questions</a:t>
            </a:r>
            <a:r>
              <a:rPr lang="en-US" dirty="0"/>
              <a:t>—while working collaboratively. This </a:t>
            </a:r>
            <a:r>
              <a:rPr lang="en-US" b="1" dirty="0"/>
              <a:t>multi-agent approach</a:t>
            </a:r>
            <a:r>
              <a:rPr lang="en-US" dirty="0"/>
              <a:t> helps ensure efficient content processing and produces clear, structured, and easy-to-understand learning material.</a:t>
            </a:r>
          </a:p>
          <a:p>
            <a:pPr>
              <a:buNone/>
            </a:pPr>
            <a:r>
              <a:rPr lang="en-US" dirty="0"/>
              <a:t>Agentic AI also provides </a:t>
            </a:r>
            <a:r>
              <a:rPr lang="en-US" b="1" dirty="0"/>
              <a:t>context awareness</a:t>
            </a:r>
            <a:r>
              <a:rPr lang="en-US" dirty="0"/>
              <a:t>, allowing the system to understand the learner's requirements, course topic, difficulty level, and preferred learning format. Based on this context, it can generate personalized explanations and study materials.</a:t>
            </a:r>
          </a:p>
          <a:p>
            <a:pPr>
              <a:buNone/>
            </a:pPr>
            <a:r>
              <a:rPr lang="en-US" dirty="0"/>
              <a:t>It also supports </a:t>
            </a:r>
            <a:r>
              <a:rPr lang="en-US" b="1" dirty="0"/>
              <a:t>real-time adaptation</a:t>
            </a:r>
            <a:r>
              <a:rPr lang="en-US" dirty="0"/>
              <a:t>, continuously modifying the simplified content based on user feedback and additional questions. The agents communicate with each other to improve content analysis, simplify difficult concepts, and provide more relevant learning support.</a:t>
            </a:r>
          </a:p>
          <a:p>
            <a:pPr>
              <a:buNone/>
            </a:pPr>
            <a:r>
              <a:rPr lang="en-US" dirty="0"/>
              <a:t>Overall, Agentic AI makes the </a:t>
            </a:r>
            <a:r>
              <a:rPr lang="en-US" b="1" dirty="0"/>
              <a:t>Course Content Simplification Agent</a:t>
            </a:r>
            <a:r>
              <a:rPr lang="en-US" dirty="0"/>
              <a:t> intelligent, interactive, personalized, and goal-driven. It acts like a </a:t>
            </a:r>
            <a:r>
              <a:rPr lang="en-US" b="1" dirty="0"/>
              <a:t>smart digital learning assistant</a:t>
            </a:r>
            <a:r>
              <a:rPr lang="en-US" dirty="0"/>
              <a:t> that helps students understand complex course content quickly and effectively.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1048634"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1048635"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36"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38"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28,319 token are used</a:t>
            </a:r>
          </a:p>
        </p:txBody>
      </p:sp>
      <p:sp>
        <p:nvSpPr>
          <p:cNvPr id="1048639" name="TextBox 13"/>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048640" name="TextBox 14"/>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7" name="Picture 6">
            <a:extLst>
              <a:ext uri="{FF2B5EF4-FFF2-40B4-BE49-F238E27FC236}">
                <a16:creationId xmlns:a16="http://schemas.microsoft.com/office/drawing/2014/main" id="{63BC8772-71EB-EE3A-CB6E-FCAE53075FBD}"/>
              </a:ext>
            </a:extLst>
          </p:cNvPr>
          <p:cNvPicPr>
            <a:picLocks noChangeAspect="1"/>
          </p:cNvPicPr>
          <p:nvPr/>
        </p:nvPicPr>
        <p:blipFill>
          <a:blip r:embed="rId3"/>
          <a:stretch>
            <a:fillRect/>
          </a:stretch>
        </p:blipFill>
        <p:spPr>
          <a:xfrm>
            <a:off x="249832" y="2253344"/>
            <a:ext cx="4763531" cy="3058886"/>
          </a:xfrm>
          <a:prstGeom prst="rect">
            <a:avLst/>
          </a:prstGeom>
        </p:spPr>
      </p:pic>
      <p:pic>
        <p:nvPicPr>
          <p:cNvPr id="9" name="Picture 8">
            <a:extLst>
              <a:ext uri="{FF2B5EF4-FFF2-40B4-BE49-F238E27FC236}">
                <a16:creationId xmlns:a16="http://schemas.microsoft.com/office/drawing/2014/main" id="{45A443E9-62A0-AEAF-A117-24EFB94E46E4}"/>
              </a:ext>
            </a:extLst>
          </p:cNvPr>
          <p:cNvPicPr>
            <a:picLocks noChangeAspect="1"/>
          </p:cNvPicPr>
          <p:nvPr/>
        </p:nvPicPr>
        <p:blipFill>
          <a:blip r:embed="rId4"/>
          <a:stretch>
            <a:fillRect/>
          </a:stretch>
        </p:blipFill>
        <p:spPr>
          <a:xfrm>
            <a:off x="5754381" y="2253344"/>
            <a:ext cx="5709101" cy="30588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1048643"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1048644"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45"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46"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47" name="TextBox 1"/>
          <p:cNvSpPr txBox="1"/>
          <p:nvPr/>
        </p:nvSpPr>
        <p:spPr>
          <a:xfrm>
            <a:off x="1335024" y="1865376"/>
            <a:ext cx="7000894" cy="701041"/>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a:extLst>
              <a:ext uri="{FF2B5EF4-FFF2-40B4-BE49-F238E27FC236}">
                <a16:creationId xmlns:a16="http://schemas.microsoft.com/office/drawing/2014/main" id="{E61F1C6F-B057-1B5F-1877-E5E7BF340990}"/>
              </a:ext>
            </a:extLst>
          </p:cNvPr>
          <p:cNvPicPr>
            <a:picLocks noChangeAspect="1"/>
          </p:cNvPicPr>
          <p:nvPr/>
        </p:nvPicPr>
        <p:blipFill>
          <a:blip r:embed="rId3"/>
          <a:stretch>
            <a:fillRect/>
          </a:stretch>
        </p:blipFill>
        <p:spPr>
          <a:xfrm>
            <a:off x="409144" y="816977"/>
            <a:ext cx="11282113" cy="570077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1048650"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1048651"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52"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53"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54" name="TextBox 1"/>
          <p:cNvSpPr txBox="1"/>
          <p:nvPr/>
        </p:nvSpPr>
        <p:spPr>
          <a:xfrm>
            <a:off x="1335024" y="1865376"/>
            <a:ext cx="7000894" cy="701041"/>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a:extLst>
              <a:ext uri="{FF2B5EF4-FFF2-40B4-BE49-F238E27FC236}">
                <a16:creationId xmlns:a16="http://schemas.microsoft.com/office/drawing/2014/main" id="{5B8F83D7-2BA5-9955-8254-2632170EEE7C}"/>
              </a:ext>
            </a:extLst>
          </p:cNvPr>
          <p:cNvPicPr>
            <a:picLocks noChangeAspect="1"/>
          </p:cNvPicPr>
          <p:nvPr/>
        </p:nvPicPr>
        <p:blipFill>
          <a:blip r:embed="rId3"/>
          <a:stretch>
            <a:fillRect/>
          </a:stretch>
        </p:blipFill>
        <p:spPr>
          <a:xfrm>
            <a:off x="108857" y="816977"/>
            <a:ext cx="11930744" cy="592806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1048657"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1048658"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59"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60"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61" name="TextBox 1"/>
          <p:cNvSpPr txBox="1"/>
          <p:nvPr/>
        </p:nvSpPr>
        <p:spPr>
          <a:xfrm>
            <a:off x="1335024" y="1865376"/>
            <a:ext cx="7000894" cy="701041"/>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3" name="Picture 2">
            <a:extLst>
              <a:ext uri="{FF2B5EF4-FFF2-40B4-BE49-F238E27FC236}">
                <a16:creationId xmlns:a16="http://schemas.microsoft.com/office/drawing/2014/main" id="{738CEEE0-C992-95F9-0294-84E61C68E8A1}"/>
              </a:ext>
            </a:extLst>
          </p:cNvPr>
          <p:cNvPicPr>
            <a:picLocks noChangeAspect="1"/>
          </p:cNvPicPr>
          <p:nvPr/>
        </p:nvPicPr>
        <p:blipFill>
          <a:blip r:embed="rId3"/>
          <a:stretch>
            <a:fillRect/>
          </a:stretch>
        </p:blipFill>
        <p:spPr>
          <a:xfrm>
            <a:off x="1218724" y="1292304"/>
            <a:ext cx="9068276" cy="512023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1048664" name="TextBox 1"/>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6A92B895-A38E-7AFD-C808-FD37EEC52DD0}"/>
              </a:ext>
            </a:extLst>
          </p:cNvPr>
          <p:cNvSpPr txBox="1"/>
          <p:nvPr/>
        </p:nvSpPr>
        <p:spPr>
          <a:xfrm>
            <a:off x="968829" y="1121229"/>
            <a:ext cx="10646228" cy="4401205"/>
          </a:xfrm>
          <a:prstGeom prst="rect">
            <a:avLst/>
          </a:prstGeom>
          <a:noFill/>
        </p:spPr>
        <p:txBody>
          <a:bodyPr wrap="square">
            <a:spAutoFit/>
          </a:bodyPr>
          <a:lstStyle/>
          <a:p>
            <a:pPr>
              <a:buNone/>
            </a:pPr>
            <a:r>
              <a:rPr lang="en-US" sz="2000" dirty="0"/>
              <a:t>The </a:t>
            </a:r>
            <a:r>
              <a:rPr lang="en-US" sz="2000" b="1" dirty="0"/>
              <a:t>Course Content Project</a:t>
            </a:r>
            <a:r>
              <a:rPr lang="en-US" sz="2000" dirty="0"/>
              <a:t>, developed using </a:t>
            </a:r>
            <a:r>
              <a:rPr lang="en-US" sz="2000" b="1" dirty="0"/>
              <a:t>IBM watsonx.ai and IBM Bob</a:t>
            </a:r>
            <a:r>
              <a:rPr lang="en-US" sz="2000" dirty="0"/>
              <a:t>, combines AI, RAG, and personalization to create an intelligent learning system.</a:t>
            </a:r>
          </a:p>
          <a:p>
            <a:pPr marL="342900" lvl="0" indent="-342900">
              <a:buFont typeface="Arial" panose="020B0604020202020204" pitchFamily="34" charset="0"/>
              <a:buChar char="•"/>
            </a:pPr>
            <a:r>
              <a:rPr lang="en-US" sz="2000" b="1" dirty="0"/>
              <a:t>AI-Powered Content Generation</a:t>
            </a:r>
            <a:r>
              <a:rPr lang="en-US" sz="2000" dirty="0"/>
              <a:t> – Automatically generates structured course content and learning materials. </a:t>
            </a:r>
          </a:p>
          <a:p>
            <a:pPr marL="342900" lvl="0" indent="-342900">
              <a:buFont typeface="Arial" panose="020B0604020202020204" pitchFamily="34" charset="0"/>
              <a:buChar char="•"/>
            </a:pPr>
            <a:r>
              <a:rPr lang="en-US" sz="2000" b="1" dirty="0"/>
              <a:t>RAG-Based Accuracy</a:t>
            </a:r>
            <a:r>
              <a:rPr lang="en-US" sz="2000" dirty="0"/>
              <a:t> – Uses relevant knowledge sources to provide reliable and context-aware content. </a:t>
            </a:r>
          </a:p>
          <a:p>
            <a:pPr marL="342900" lvl="0" indent="-342900">
              <a:buFont typeface="Arial" panose="020B0604020202020204" pitchFamily="34" charset="0"/>
              <a:buChar char="•"/>
            </a:pPr>
            <a:r>
              <a:rPr lang="en-US" sz="2000" b="1" dirty="0"/>
              <a:t>Personalized Learning</a:t>
            </a:r>
            <a:r>
              <a:rPr lang="en-US" sz="2000" dirty="0"/>
              <a:t> – Adapts content according to the learner’s level and requirements. </a:t>
            </a:r>
          </a:p>
          <a:p>
            <a:pPr marL="342900" lvl="0" indent="-342900">
              <a:buFont typeface="Arial" panose="020B0604020202020204" pitchFamily="34" charset="0"/>
              <a:buChar char="•"/>
            </a:pPr>
            <a:r>
              <a:rPr lang="en-US" sz="2000" b="1" dirty="0"/>
              <a:t>Interactive Assessments</a:t>
            </a:r>
            <a:r>
              <a:rPr lang="en-US" sz="2000" dirty="0"/>
              <a:t> – Generates quizzes and practice questions from course topics. </a:t>
            </a:r>
          </a:p>
          <a:p>
            <a:pPr marL="342900" lvl="0" indent="-342900">
              <a:buFont typeface="Arial" panose="020B0604020202020204" pitchFamily="34" charset="0"/>
              <a:buChar char="•"/>
            </a:pPr>
            <a:r>
              <a:rPr lang="en-US" sz="2000" b="1" dirty="0"/>
              <a:t>Multi-Agent Approach</a:t>
            </a:r>
            <a:r>
              <a:rPr lang="en-US" sz="2000" dirty="0"/>
              <a:t> – Different AI agents work together for content creation, assessment, and learner support. </a:t>
            </a:r>
          </a:p>
          <a:p>
            <a:pPr marL="342900" lvl="0" indent="-342900">
              <a:buFont typeface="Arial" panose="020B0604020202020204" pitchFamily="34" charset="0"/>
              <a:buChar char="•"/>
            </a:pPr>
            <a:r>
              <a:rPr lang="en-US" sz="2000" b="1" dirty="0"/>
              <a:t>Scalable Solution</a:t>
            </a:r>
            <a:r>
              <a:rPr lang="en-US" sz="2000" dirty="0"/>
              <a:t> – Built with </a:t>
            </a:r>
            <a:r>
              <a:rPr lang="en-US" sz="2000" b="1" dirty="0"/>
              <a:t>IBM watsonx.ai and IBM Granite models</a:t>
            </a:r>
            <a:r>
              <a:rPr lang="en-US" sz="2000" dirty="0"/>
              <a:t> for an enterprise-ready learning experience.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104866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104866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Please create public </a:t>
            </a:r>
            <a:r>
              <a:rPr lang="en-US" sz="2000" b="0" i="0" u="none" strike="noStrike" cap="none" dirty="0" err="1">
                <a:solidFill>
                  <a:srgbClr val="2B3541"/>
                </a:solidFill>
                <a:latin typeface="Times New Roman"/>
                <a:ea typeface="Times New Roman"/>
                <a:cs typeface="Times New Roman"/>
                <a:sym typeface="Times New Roman"/>
              </a:rPr>
              <a:t>github</a:t>
            </a:r>
            <a:r>
              <a:rPr lang="en-US" sz="200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Repository name is </a:t>
            </a:r>
            <a:r>
              <a:rPr lang="en-US" sz="2000" b="0" i="0" u="none" strike="noStrike" cap="none" dirty="0" err="1">
                <a:solidFill>
                  <a:srgbClr val="2B3541"/>
                </a:solidFill>
                <a:latin typeface="Times New Roman"/>
                <a:ea typeface="Times New Roman"/>
                <a:cs typeface="Times New Roman"/>
                <a:sym typeface="Times New Roman"/>
              </a:rPr>
              <a:t>ibm-skillsbuild</a:t>
            </a:r>
            <a:endParaRPr lang="en-US" sz="200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2000" dirty="0">
                <a:solidFill>
                  <a:srgbClr val="2B3541"/>
                </a:solidFill>
                <a:latin typeface="Times New Roman"/>
                <a:ea typeface="Times New Roman"/>
                <a:cs typeface="Times New Roman"/>
                <a:sym typeface="Times New Roman"/>
              </a:rPr>
              <a:t>Please test and Paste the working  </a:t>
            </a:r>
            <a:r>
              <a:rPr lang="en-US" sz="2000" dirty="0" err="1">
                <a:solidFill>
                  <a:srgbClr val="2B3541"/>
                </a:solidFill>
                <a:latin typeface="Times New Roman"/>
                <a:ea typeface="Times New Roman"/>
                <a:cs typeface="Times New Roman"/>
                <a:sym typeface="Times New Roman"/>
              </a:rPr>
              <a:t>Github</a:t>
            </a:r>
            <a:r>
              <a:rPr lang="en-US" sz="2000" dirty="0">
                <a:solidFill>
                  <a:srgbClr val="2B3541"/>
                </a:solidFill>
                <a:latin typeface="Times New Roman"/>
                <a:ea typeface="Times New Roman"/>
                <a:cs typeface="Times New Roman"/>
                <a:sym typeface="Times New Roman"/>
              </a:rPr>
              <a:t> URL </a:t>
            </a:r>
            <a:r>
              <a:rPr lang="en-US" sz="2000" b="1" dirty="0">
                <a:solidFill>
                  <a:srgbClr val="2B3541"/>
                </a:solidFill>
                <a:latin typeface="Times New Roman"/>
                <a:ea typeface="Times New Roman"/>
                <a:cs typeface="Times New Roman"/>
                <a:sym typeface="Times New Roman"/>
              </a:rPr>
              <a:t>– https://github.com/chandanaN18/ibm-skillsbuild</a:t>
            </a:r>
          </a:p>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Make sure you have Uploaded following three files into your </a:t>
            </a:r>
            <a:r>
              <a:rPr lang="en-US" sz="2000" b="1" dirty="0" err="1">
                <a:solidFill>
                  <a:srgbClr val="2B3541"/>
                </a:solidFill>
                <a:latin typeface="Times New Roman"/>
                <a:ea typeface="Times New Roman"/>
                <a:cs typeface="Times New Roman"/>
                <a:sym typeface="Times New Roman"/>
              </a:rPr>
              <a:t>github</a:t>
            </a:r>
            <a:r>
              <a:rPr lang="en-US" sz="2000" b="1" dirty="0">
                <a:solidFill>
                  <a:srgbClr val="2B3541"/>
                </a:solidFill>
                <a:latin typeface="Times New Roman"/>
                <a:ea typeface="Times New Roman"/>
                <a:cs typeface="Times New Roman"/>
                <a:sym typeface="Times New Roman"/>
              </a:rPr>
              <a:t> repository  </a:t>
            </a:r>
            <a:br>
              <a:rPr lang="en-US" sz="2000" dirty="0">
                <a:solidFill>
                  <a:srgbClr val="2B3541"/>
                </a:solidFill>
                <a:latin typeface="Times New Roman"/>
                <a:ea typeface="Times New Roman"/>
                <a:cs typeface="Times New Roman"/>
                <a:sym typeface="Times New Roman"/>
              </a:rPr>
            </a:br>
            <a:r>
              <a:rPr lang="en-US" sz="200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04867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7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7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1048675"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1048677"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78"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048679"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55C7A2D-BB79-32F2-3423-581415031632}"/>
              </a:ext>
            </a:extLst>
          </p:cNvPr>
          <p:cNvSpPr txBox="1"/>
          <p:nvPr/>
        </p:nvSpPr>
        <p:spPr>
          <a:xfrm>
            <a:off x="968829" y="957943"/>
            <a:ext cx="8382000" cy="4855794"/>
          </a:xfrm>
          <a:prstGeom prst="rect">
            <a:avLst/>
          </a:prstGeom>
          <a:noFill/>
        </p:spPr>
        <p:txBody>
          <a:bodyPr wrap="square">
            <a:spAutoFit/>
          </a:bodyPr>
          <a:lstStyle/>
          <a:p>
            <a:pPr>
              <a:buNone/>
            </a:pPr>
            <a:endParaRPr lang="en-US" sz="2000" b="1" dirty="0"/>
          </a:p>
          <a:p>
            <a:pPr marL="342900" lvl="0" indent="-342900">
              <a:buFont typeface="Arial" panose="020B0604020202020204" pitchFamily="34" charset="0"/>
              <a:buChar char="•"/>
            </a:pPr>
            <a:r>
              <a:rPr lang="en-US" sz="2000" b="1" dirty="0"/>
              <a:t>Advanced Personalization</a:t>
            </a:r>
            <a:r>
              <a:rPr lang="en-US" sz="2000" dirty="0"/>
              <a:t> – Provide learning paths based on each student’s performance and interests.</a:t>
            </a:r>
          </a:p>
          <a:p>
            <a:pPr marL="342900" lvl="0" indent="-342900">
              <a:buFont typeface="Arial" panose="020B0604020202020204" pitchFamily="34" charset="0"/>
              <a:buChar char="•"/>
            </a:pPr>
            <a:r>
              <a:rPr lang="en-US" sz="2000" b="1" dirty="0"/>
              <a:t>Voice &amp; Multilingual Support</a:t>
            </a:r>
            <a:r>
              <a:rPr lang="en-US" sz="2000" dirty="0"/>
              <a:t> – Generate course content in different languages and through voice interaction.</a:t>
            </a:r>
          </a:p>
          <a:p>
            <a:pPr marL="342900" lvl="0" indent="-342900">
              <a:buFont typeface="Arial" panose="020B0604020202020204" pitchFamily="34" charset="0"/>
              <a:buChar char="•"/>
            </a:pPr>
            <a:r>
              <a:rPr lang="en-US" sz="2000" b="1" dirty="0"/>
              <a:t>AI Tutor Integration</a:t>
            </a:r>
            <a:r>
              <a:rPr lang="en-US" sz="2000" dirty="0"/>
              <a:t> – Provide 24/7 AI-based doubt solving and guidance.</a:t>
            </a:r>
          </a:p>
          <a:p>
            <a:pPr marL="342900" lvl="0" indent="-342900">
              <a:buFont typeface="Arial" panose="020B0604020202020204" pitchFamily="34" charset="0"/>
              <a:buChar char="•"/>
            </a:pPr>
            <a:r>
              <a:rPr lang="en-US" sz="2000" b="1" dirty="0"/>
              <a:t>Automated Assessments</a:t>
            </a:r>
            <a:r>
              <a:rPr lang="en-US" sz="2000" dirty="0"/>
              <a:t> – Generate and evaluate quizzes, assignments, and exams automatically.</a:t>
            </a:r>
          </a:p>
          <a:p>
            <a:pPr marL="342900" lvl="0" indent="-342900">
              <a:buFont typeface="Arial" panose="020B0604020202020204" pitchFamily="34" charset="0"/>
              <a:buChar char="•"/>
            </a:pPr>
            <a:r>
              <a:rPr lang="en-US" sz="2000" b="1" dirty="0"/>
              <a:t>Real-Time Analytics</a:t>
            </a:r>
            <a:r>
              <a:rPr lang="en-US" sz="2000" dirty="0"/>
              <a:t> – Track student progress and identify learning gaps.</a:t>
            </a:r>
          </a:p>
          <a:p>
            <a:pPr marL="342900" lvl="0" indent="-342900">
              <a:buFont typeface="Arial" panose="020B0604020202020204" pitchFamily="34" charset="0"/>
              <a:buChar char="•"/>
            </a:pPr>
            <a:r>
              <a:rPr lang="en-US" sz="2000" b="1" dirty="0"/>
              <a:t>Integration with LMS</a:t>
            </a:r>
            <a:r>
              <a:rPr lang="en-US" sz="2000" dirty="0"/>
              <a:t> – Connect with platforms like Moodle, Canvas, or other learning management systems.</a:t>
            </a:r>
          </a:p>
          <a:p>
            <a:pPr marL="342900" lvl="0" indent="-342900">
              <a:buFont typeface="Arial" panose="020B0604020202020204" pitchFamily="34" charset="0"/>
              <a:buChar char="•"/>
            </a:pPr>
            <a:r>
              <a:rPr lang="en-US" sz="2000" b="1" dirty="0"/>
              <a:t>Continuous AI Improvement</a:t>
            </a:r>
            <a:r>
              <a:rPr lang="en-US" sz="2000" dirty="0"/>
              <a:t> – Improve content quality using user feedback and updated knowledge sources.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TextBox 5"/>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1048683" name="TextBox 2"/>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F7743E1D-3281-C2AB-8546-170C5D563CE1}"/>
              </a:ext>
            </a:extLst>
          </p:cNvPr>
          <p:cNvPicPr>
            <a:picLocks noChangeAspect="1"/>
          </p:cNvPicPr>
          <p:nvPr/>
        </p:nvPicPr>
        <p:blipFill>
          <a:blip r:embed="rId2"/>
          <a:stretch>
            <a:fillRect/>
          </a:stretch>
        </p:blipFill>
        <p:spPr>
          <a:xfrm>
            <a:off x="2844802" y="1367169"/>
            <a:ext cx="7158293" cy="54037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extBox 4"/>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104868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12" name="Picture 11">
            <a:extLst>
              <a:ext uri="{FF2B5EF4-FFF2-40B4-BE49-F238E27FC236}">
                <a16:creationId xmlns:a16="http://schemas.microsoft.com/office/drawing/2014/main" id="{788BB828-F5B2-CF62-C40D-B4D197E429DC}"/>
              </a:ext>
            </a:extLst>
          </p:cNvPr>
          <p:cNvPicPr>
            <a:picLocks noChangeAspect="1"/>
          </p:cNvPicPr>
          <p:nvPr/>
        </p:nvPicPr>
        <p:blipFill>
          <a:blip r:embed="rId2"/>
          <a:stretch>
            <a:fillRect/>
          </a:stretch>
        </p:blipFill>
        <p:spPr>
          <a:xfrm>
            <a:off x="2656115" y="1360565"/>
            <a:ext cx="7487030" cy="504023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2097165" name="Google Shape;310;p20"/>
          <p:cNvPicPr preferRelativeResize="0">
            <a:picLocks/>
          </p:cNvPicPr>
          <p:nvPr/>
        </p:nvPicPr>
        <p:blipFill rotWithShape="1">
          <a:blip r:embed="rId3">
            <a:alphaModFix/>
          </a:blip>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TotalTime>
  <Words>1513</Words>
  <Application>Microsoft Office PowerPoint</Application>
  <PresentationFormat>Widescreen</PresentationFormat>
  <Paragraphs>138</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Nemalidinne Sri chandana</cp:lastModifiedBy>
  <cp:revision>37</cp:revision>
  <dcterms:created xsi:type="dcterms:W3CDTF">2025-07-07T18:06:56Z</dcterms:created>
  <dcterms:modified xsi:type="dcterms:W3CDTF">2026-09-11T15:54:22Z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5391ffb37cf04b6d99eba29fc596bd5e_23</vt:lpwstr>
  </property>
</Properties>
</file>